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2720A-F81B-F0C0-234B-A815D1C17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B30F7E-2D71-167F-1BB6-0EAFB09DF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419AF7-0A30-7ED4-0FD5-E593DEC6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0A03FF-19A6-5FD5-5CAB-D9E1D5BB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6AAE96-2DD8-DDEA-32C0-831FB10C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860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A16B1-F18B-8F50-A38A-C00B90A4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31EB05-0269-0C8C-718B-D552B81A4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989E76-9AA7-A2C4-D7EF-1BBD21A1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5F6E7E-FABB-75FD-00F1-CAAE5327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6A3D0-1125-6BAD-AEA0-8CFFDEA76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930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CEDCC-11DC-B98C-3059-3F94D766E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ABD53B-BF6E-07E1-E021-EC0EB01F1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D32F1C-B479-0342-C38A-F5FD6E0B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4194FE-770C-DE85-9D68-1A185E55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F89F3-460D-AE3A-8A18-3DDC42FD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315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A5B69-263C-2EB0-D0DC-44DA4639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8A3280-7A7E-2B9C-CA43-CCB18E401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3164FF-674F-8B78-0031-E47A26B7E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73E0AF-ED2F-0B1B-6284-FBE076D9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36EBEA-5D61-6685-E8DE-97EF1FB30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36B3FF-7F9F-FB11-BDBE-E28124B0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576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CC904-A818-E9B5-D4F8-2F2A1284B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C068C-EDAE-0CA1-579D-8FD56E194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84910A-B924-D728-2E49-29914C407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0EA3F9-FB01-56F8-69ED-3628D6FF3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5288BEF-20AE-97F0-2F81-3630A9B45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ADD1E66-6670-600A-EDFF-0BF60E93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70DC9B-94E3-B76A-85EB-55D95A5D2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B9327D-8DDD-C4E1-646E-93BEFBCE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2534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990C5-447E-FBFE-44BE-8B24BD87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4E66F2-76EB-CA77-0679-2C889BC3D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0F4B1C-C339-8739-F0B3-F03A4F21A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5512B2-7026-A96F-6D70-595C13F7B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840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0915B8E-E2E5-041C-26A9-811BDF4E6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390969-0A2C-BFDE-1DA7-3824EC710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D4C60D-4DC6-0EB9-FBFA-A52586983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847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FD2FA-9329-321E-B382-974A32B1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2508A9-7834-6257-A194-5B05D7BE2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64BD6F-49D8-AD63-18DE-C5316F018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8FA2EC-E78D-38CD-7B16-F1BF540F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3053A5-775F-7360-7A4F-EFF5C6D3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9860E9-1BAD-FA48-7F21-EA610077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405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50B2D-0AB1-117C-222B-CA11D8C0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59F249-564A-338B-CD49-EE2BC9C46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067244-469F-9F94-BCEC-B774C4D9A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48E557-EAF0-1203-C59F-C2D38121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19E104-AFF8-44E5-A037-26A679E4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76970A-73BA-3549-AD07-7D570B73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6353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6237F-084B-89C4-2D93-F83652E8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F3C3AD-8CA0-5663-ED53-282C0609D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115AA5-7892-68AC-53AC-750E8B263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177F4-4BBB-16F5-0FC4-2DE46323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C5961E-0C5A-15C3-BFC5-F7766E1F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472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B4E1C5-2BB6-EBD1-EC7D-C1DBBDABA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BA53FD-6879-38CD-2D0D-B16B60D42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C165F7-9580-EC00-BED7-9899212BF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D39E66-C5A4-277F-C9DB-D0F83DD2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0C2F2C-ABAE-49C9-67DA-7ECF87CB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778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CF55D2-7EFA-B69F-F895-551FDDEA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39F33F-B052-9FD6-9603-E1242B365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FFEACC-A793-578E-0404-D72EDA283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7CB4C-A184-4899-BA9E-01E3DA252C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708531-E3DD-7792-F980-D7F377149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86DF37-C174-F5C8-9357-D0D16E15B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A0EE6-249D-4BF7-959F-505CB30159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848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4A368-9357-6FAD-54A1-4BE3A6459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Marco Arancelario Sección 232 (Aluminio, Acero y Cobre)</a:t>
            </a:r>
            <a:br>
              <a:rPr lang="es-MX" dirty="0"/>
            </a:br>
            <a:r>
              <a:rPr lang="es-MX" sz="4000" dirty="0"/>
              <a:t>Proclamación 01 junio 2026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8715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FBBD9-BED7-1DDE-5545-AE4FD60A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9" y="18762"/>
            <a:ext cx="12171220" cy="576000"/>
          </a:xfrm>
        </p:spPr>
        <p:txBody>
          <a:bodyPr>
            <a:normAutofit/>
          </a:bodyPr>
          <a:lstStyle/>
          <a:p>
            <a:r>
              <a:rPr lang="es-MX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2F08F-B6D0-3544-FF65-2425FFB5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8" y="717261"/>
            <a:ext cx="12171221" cy="34492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medida entra en vigor 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de junio de 2026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y se mantiene vigente hasta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31 de diciembre de 2027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r>
              <a:rPr lang="es-MX" sz="1600" kern="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s-MX" sz="16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partir del </a:t>
            </a:r>
            <a:r>
              <a:rPr lang="es-MX" sz="1600" b="1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de enero de 2028</a:t>
            </a:r>
            <a:r>
              <a:rPr lang="es-MX" sz="16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los esquemas preferenciales temporales y las subpartidas especiales (9903.82.20 a la 9903.82.26) serán eliminados del HTSUS, revirtiendo los nuevos mecanismos de esta proclamación.</a:t>
            </a:r>
            <a:endParaRPr lang="es-MX" sz="16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00000"/>
              </a:lnSpc>
            </a:pP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El umbral legal para considerar que un producto está compuesto "enteramente" de metal estadounidense se reduce del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95%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85%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 crea un nuevo Anexo, el “</a:t>
            </a:r>
            <a:r>
              <a:rPr lang="es-MX" sz="16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Annex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I-C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” compuesto enteramente por artículos contenidos previamente en el “</a:t>
            </a:r>
            <a:r>
              <a:rPr lang="es-MX" sz="16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Annex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I-B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” con un arancel general temporal del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25%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y diversas reglas específicas.</a:t>
            </a:r>
          </a:p>
          <a:p>
            <a:pPr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 reubicaron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176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productos específicos (10 dígitos).</a:t>
            </a:r>
          </a:p>
          <a:p>
            <a:pPr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Información detallada sobre el marco arancelario actual en las láminas siguientes.</a:t>
            </a:r>
          </a:p>
        </p:txBody>
      </p:sp>
    </p:spTree>
    <p:extLst>
      <p:ext uri="{BB962C8B-B14F-4D97-AF65-F5344CB8AC3E}">
        <p14:creationId xmlns:p14="http://schemas.microsoft.com/office/powerpoint/2010/main" val="1536879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FBBD9-BED7-1DDE-5545-AE4FD60A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9" y="18762"/>
            <a:ext cx="12171220" cy="576000"/>
          </a:xfrm>
        </p:spPr>
        <p:txBody>
          <a:bodyPr>
            <a:normAutofit/>
          </a:bodyPr>
          <a:lstStyle/>
          <a:p>
            <a:r>
              <a:rPr lang="es-MX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Anexo I-A (Materias Primas y Productos Metalúrgicos Básicos)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2F08F-B6D0-3544-FF65-2425FFB5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8" y="717261"/>
            <a:ext cx="12171221" cy="34492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Arancel General del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50% ad </a:t>
            </a:r>
            <a:r>
              <a:rPr lang="es-MX" sz="16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valorem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si cumple con el umbral de fundido y moldeado</a:t>
            </a:r>
            <a:r>
              <a:rPr lang="es-MX" sz="1600" baseline="30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1/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EUA del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85%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previamente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95%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).</a:t>
            </a:r>
          </a:p>
          <a:p>
            <a:pPr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Aptos" panose="020B0004020202020204" pitchFamily="34" charset="0"/>
              </a:rPr>
              <a:t>T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asa preferencial del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25%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 (en lugar de la general del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50%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) si el contenido de aluminio o acero fue fundido y moldeado o derretido y vertido enteramente en el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Reino Unido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Cualquier artículo de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Rusia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, o donde cualquier cantidad del aluminio primario sea fundido o moldeado en Rusia, está sujeto a un arancel del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200% ad </a:t>
            </a:r>
            <a:r>
              <a:rPr lang="es-MX" sz="1600" b="1" dirty="0" err="1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valorem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, anulando cualquier reducción o trato preferencial.</a:t>
            </a:r>
            <a:endParaRPr lang="es-MX" sz="16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Este anexo se compone por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1205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(antes 1205) productos específicos (10 dígitos), respecto a la proclamación previa:</a:t>
            </a:r>
          </a:p>
          <a:p>
            <a:pPr lvl="1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Sin cambio: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1205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productos.</a:t>
            </a:r>
          </a:p>
          <a:p>
            <a:pPr lvl="1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Añadidos: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  <a:p>
            <a:pPr lvl="1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Removidos: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  <a:p>
            <a:pPr lvl="1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Reubicados: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  <a:endParaRPr lang="es-MX" sz="16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6AE251-3CD7-D87C-CB8C-7712B31F8453}"/>
              </a:ext>
            </a:extLst>
          </p:cNvPr>
          <p:cNvSpPr txBox="1"/>
          <p:nvPr/>
        </p:nvSpPr>
        <p:spPr>
          <a:xfrm>
            <a:off x="20778" y="6451446"/>
            <a:ext cx="12171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1/ Por motivos de simplicidad, con “umbral de fundido y moldeado de EUA” nos referimos en la totalidad del documento a: aluminio “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smelted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and 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cast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” en EUA, acero “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melted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and 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poured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” en EUA y cobre “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smelted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and 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cast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” en EUA.</a:t>
            </a:r>
          </a:p>
        </p:txBody>
      </p:sp>
    </p:spTree>
    <p:extLst>
      <p:ext uri="{BB962C8B-B14F-4D97-AF65-F5344CB8AC3E}">
        <p14:creationId xmlns:p14="http://schemas.microsoft.com/office/powerpoint/2010/main" val="217245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FBBD9-BED7-1DDE-5545-AE4FD60A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9" y="18762"/>
            <a:ext cx="12171220" cy="576000"/>
          </a:xfrm>
        </p:spPr>
        <p:txBody>
          <a:bodyPr>
            <a:noAutofit/>
          </a:bodyPr>
          <a:lstStyle/>
          <a:p>
            <a:r>
              <a:rPr lang="es-MX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Anexo I-B (Bienes Intermedios, Componentes Industriales y Manufacturas Diversas)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2F08F-B6D0-3544-FF65-2425FFB5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8" y="717260"/>
            <a:ext cx="12171221" cy="614073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Arancel General del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25% ad </a:t>
            </a:r>
            <a:r>
              <a:rPr lang="es-MX" sz="16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valorem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si cumple con el umbral de fundido y moldeado de EUA del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85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%).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 fija un techo combinado de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15%</a:t>
            </a:r>
            <a:r>
              <a:rPr lang="es-MX" sz="1600" baseline="30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2/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partes para el uso exclusivo en la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manufactura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equipo industrial móvil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listado en 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Anexo I-C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equipo agrícola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industrial fijo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listado en 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Anexo III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Partes para el uso exclusivo en la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manufactura de motocicletas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clasificables en los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capítulos 84, 85 y 87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están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exentas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 los artículos listados fuera de los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capítulos 72, 73, 74 y 76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el arancel solo aplica si el peso del metal es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mayor al 15%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si el producto contiene diversos metales, 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peso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es 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agregado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 ellos.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Aptos" panose="020B0004020202020204" pitchFamily="34" charset="0"/>
              </a:rPr>
              <a:t>T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asa preferencial del </a:t>
            </a:r>
            <a:r>
              <a:rPr lang="es-MX" sz="1600" b="1" dirty="0">
                <a:latin typeface="Noto Sans" panose="020B0502040504020204" pitchFamily="34" charset="0"/>
                <a:ea typeface="Aptos" panose="020B0004020202020204" pitchFamily="34" charset="0"/>
              </a:rPr>
              <a:t>1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5%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 (en lugar de la general del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2</a:t>
            </a:r>
            <a:r>
              <a:rPr lang="es-MX" sz="1600" b="1" dirty="0">
                <a:latin typeface="Noto Sans" panose="020B0502040504020204" pitchFamily="34" charset="0"/>
                <a:ea typeface="Aptos" panose="020B0004020202020204" pitchFamily="34" charset="0"/>
              </a:rPr>
              <a:t>5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%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) si el contenido de aluminio o acero fue fundido y moldeado o derretido y vertido enteramente en el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Reino Unido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Cualquier artículo de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Rusia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, o donde cualquier cantidad del aluminio primario sea fundido o moldeado en Rusia, está sujeto a un arancel del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200% ad </a:t>
            </a:r>
            <a:r>
              <a:rPr lang="es-MX" sz="1600" b="1" dirty="0" err="1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valorem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, anulando cualquier reducción o trato preferencial.</a:t>
            </a:r>
            <a:endParaRPr lang="es-MX" sz="16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Este anexo se compone por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517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(antes 688) productos específicos (10 dígitos), respecto a la proclamación previa: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Sin cambio: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514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productos.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Añadidos: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Removidos: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Reubicados: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176</a:t>
            </a:r>
          </a:p>
          <a:p>
            <a:pPr lvl="2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Desde Anexo II: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</a:t>
            </a:r>
          </a:p>
          <a:p>
            <a:pPr lvl="2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Hacia Anexo III: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82</a:t>
            </a:r>
          </a:p>
          <a:p>
            <a:pPr lvl="2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Hacia Anexo I-C: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BD8412-2C3D-B550-B414-6FCDE8B5CA9A}"/>
              </a:ext>
            </a:extLst>
          </p:cNvPr>
          <p:cNvSpPr txBox="1"/>
          <p:nvPr/>
        </p:nvSpPr>
        <p:spPr>
          <a:xfrm>
            <a:off x="0" y="6456718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2/ Para efectos de este documento, la expresión “techo combinado de X%” indica que la suma de la tasa base (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Column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1 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Duty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Rate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HTSUS) y el arancel adicional de la Sección 232 no excederá el X% ad </a:t>
            </a:r>
            <a:r>
              <a:rPr lang="es-MX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valorem</a:t>
            </a:r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Si el producto ya cuenta con una tasa base igual o superior al X%, el arancel adicional aplicable por la Sección 232 será del 0%.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422E9D9-13F3-B178-A528-15EFE7F27FDC}"/>
                  </a:ext>
                </a:extLst>
              </p:cNvPr>
              <p:cNvSpPr txBox="1"/>
              <p:nvPr/>
            </p:nvSpPr>
            <p:spPr>
              <a:xfrm>
                <a:off x="6260621" y="4891980"/>
                <a:ext cx="4788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Fórmula de Techo Arancelario Combinado: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MX" b="0" i="0" smtClean="0"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max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⁡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0%, </m:t>
                          </m:r>
                          <m:d>
                            <m:dPr>
                              <m:ctrlPr>
                                <a:rPr lang="es-MX" i="1" smtClean="0"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𝑋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%−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𝐶𝑜𝑙𝑢𝑚𝑛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 1 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𝑅𝑎𝑡𝑒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MX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422E9D9-13F3-B178-A528-15EFE7F2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621" y="4891980"/>
                <a:ext cx="4788000" cy="646331"/>
              </a:xfrm>
              <a:prstGeom prst="rect">
                <a:avLst/>
              </a:prstGeom>
              <a:blipFill>
                <a:blip r:embed="rId2"/>
                <a:stretch>
                  <a:fillRect l="-1019" t="-4673" r="-76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41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FBBD9-BED7-1DDE-5545-AE4FD60A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9" y="18762"/>
            <a:ext cx="12171220" cy="576000"/>
          </a:xfrm>
        </p:spPr>
        <p:txBody>
          <a:bodyPr>
            <a:noAutofit/>
          </a:bodyPr>
          <a:lstStyle/>
          <a:p>
            <a:r>
              <a:rPr lang="es-MX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Anexo I-C (Maquinaria Pesada y Equipo Industrial Móvil)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2F08F-B6D0-3544-FF65-2425FFB5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8" y="717260"/>
            <a:ext cx="12171221" cy="550238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Arancel Temporal General del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25% ad </a:t>
            </a:r>
            <a:r>
              <a:rPr lang="es-MX" sz="16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valorem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(Techo combinado de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si cumple con el umbral de </a:t>
            </a:r>
            <a:r>
              <a:rPr lang="es-MX" sz="16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aluminio fundido y moldeado en EUA o acero derretido y vertido en EUA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85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%).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 los artículos listados fuera de los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capítulos 72, 73, 74 y 76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el arancel solo aplica si el peso del metal es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mayor al 15%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si el producto contiene diversos metales, 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peso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es 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agregado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 ellos.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 un producto encuadra en </a:t>
            </a:r>
            <a:r>
              <a:rPr lang="es-MX" sz="1600" b="1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múltiples supuestos arancelarios</a:t>
            </a:r>
            <a:r>
              <a:rPr lang="es-MX" sz="16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la autoridad aduanera está obligada a aplicar la </a:t>
            </a:r>
            <a:r>
              <a:rPr lang="es-MX" sz="1600" b="1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tasa arancelaria más baja disponible</a:t>
            </a:r>
            <a:r>
              <a:rPr lang="es-MX" sz="16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 productos originarios de </a:t>
            </a:r>
            <a:r>
              <a:rPr lang="es-MX" sz="1600" b="1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Argentina, Ecuador, El Salvador, Guatemala, Japón, Corea del Sur, Liechtenstein, Suiza, Taiwán, Reino Unido o la Unión Europea </a:t>
            </a:r>
            <a:r>
              <a:rPr lang="es-MX" sz="16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reciben un techo arancelario combinado del </a:t>
            </a:r>
            <a:r>
              <a:rPr lang="es-MX" sz="1600" b="1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15%</a:t>
            </a:r>
            <a:r>
              <a:rPr lang="es-MX" sz="16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algn="just"/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 los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bienes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originarios de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México y Canadá 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 califiquen para trato preferencial bajo 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T-MEC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el arancel del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25%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la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Sección 232 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 aplicará de manera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seccionada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sobre el valor del producto:</a:t>
            </a:r>
          </a:p>
          <a:p>
            <a:pPr lvl="1" algn="just"/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25%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arancel aplica sobre el valor total del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contenido no estadounidense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</a:p>
          <a:p>
            <a:pPr lvl="1" algn="just"/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Sobre 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contenido estadounidense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la porción que represente hasta 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40%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valor total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producto queda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exenta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arancel. Si 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contenido estadounidense supera el 40% del valor total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la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porción excedente sí paga 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25%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arancel.</a:t>
            </a:r>
            <a:endParaRPr lang="es-MX" sz="1600" kern="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1" algn="just"/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Restricción de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piso mínimo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Sin importar el resultado matemático del desglose de contenido anterior, el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arancel efectivo total cobrado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sobre el producto importado </a:t>
            </a:r>
            <a:r>
              <a:rPr lang="es-MX" sz="1600" b="1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nunca podrá ser inferior al 15% ad </a:t>
            </a:r>
            <a:r>
              <a:rPr lang="es-MX" sz="1600" b="1" kern="100" dirty="0" err="1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valorem</a:t>
            </a:r>
            <a:r>
              <a:rPr lang="es-MX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Este anexo se compone por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91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(nuevo anexo) productos específicos (10 dígitos), respecto a la proclamación previa: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Añadidos: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  <a:r>
              <a:rPr lang="es-MX" sz="1600" baseline="30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3/</a:t>
            </a:r>
            <a:endParaRPr lang="es-MX" sz="16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Reubicados: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91</a:t>
            </a:r>
            <a:endParaRPr lang="es-MX" sz="1600" baseline="300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2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Desde Anexo I-B: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F493654-695F-FB43-9EEC-E4D8F8AF4727}"/>
              </a:ext>
            </a:extLst>
          </p:cNvPr>
          <p:cNvSpPr txBox="1"/>
          <p:nvPr/>
        </p:nvSpPr>
        <p:spPr>
          <a:xfrm>
            <a:off x="20777" y="6611779"/>
            <a:ext cx="121712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3/ Al ser un anexo nuevo, no hubieron productos específicos “sin cambios” ni removidos. Mientras que no hubo productos añadidos, es decir, que no estuvieran contenidos ya en otros anexos antes.</a:t>
            </a:r>
            <a:endParaRPr lang="es-MX" sz="1000" dirty="0"/>
          </a:p>
        </p:txBody>
      </p:sp>
    </p:spTree>
    <p:extLst>
      <p:ext uri="{BB962C8B-B14F-4D97-AF65-F5344CB8AC3E}">
        <p14:creationId xmlns:p14="http://schemas.microsoft.com/office/powerpoint/2010/main" val="4104745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FBBD9-BED7-1DDE-5545-AE4FD60A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9" y="18762"/>
            <a:ext cx="12171220" cy="576000"/>
          </a:xfrm>
        </p:spPr>
        <p:txBody>
          <a:bodyPr>
            <a:noAutofit/>
          </a:bodyPr>
          <a:lstStyle/>
          <a:p>
            <a:r>
              <a:rPr lang="es-MX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Anexo II (Bienes Exentos y Exclusiones Específicas)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2F08F-B6D0-3544-FF65-2425FFB5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8" y="717260"/>
            <a:ext cx="12171221" cy="612197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MX" sz="18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Tasa general del </a:t>
            </a:r>
            <a:r>
              <a:rPr lang="es-MX" sz="18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0%</a:t>
            </a:r>
            <a:r>
              <a:rPr lang="es-MX" sz="18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 (</a:t>
            </a:r>
            <a:r>
              <a:rPr lang="es-MX" sz="18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excluidos</a:t>
            </a:r>
            <a:r>
              <a:rPr lang="es-MX" sz="18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 completamente del alcance de la </a:t>
            </a:r>
            <a:r>
              <a:rPr lang="es-MX" sz="18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Sección 232</a:t>
            </a:r>
            <a:r>
              <a:rPr lang="es-MX" sz="18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).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Este anexo se compone por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226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(antes 227) productos específicos (10 dígitos), respecto a la proclamación previa: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Sin cambio: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224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productos.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Añadidos: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Removidos: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Reubicados: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</a:t>
            </a:r>
          </a:p>
          <a:p>
            <a:pPr lvl="2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Hacia Anexo I-B: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</a:t>
            </a:r>
            <a:endParaRPr lang="es-MX" sz="1600" kern="100" dirty="0"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848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FBBD9-BED7-1DDE-5545-AE4FD60A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9" y="18762"/>
            <a:ext cx="12171220" cy="576000"/>
          </a:xfrm>
        </p:spPr>
        <p:txBody>
          <a:bodyPr>
            <a:noAutofit/>
          </a:bodyPr>
          <a:lstStyle/>
          <a:p>
            <a:r>
              <a:rPr lang="es-MX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Anexo III (Equipo Agrícola, Sistemas HVAC y Maquinaria Industrial Fija)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2F08F-B6D0-3544-FF65-2425FFB5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8" y="717260"/>
            <a:ext cx="12171221" cy="612197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Sujetos a esquemas de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reducción arancelaria 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o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techos combinados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.</a:t>
            </a:r>
          </a:p>
          <a:p>
            <a:pPr lvl="1" algn="just">
              <a:lnSpc>
                <a:spcPct val="100000"/>
              </a:lnSpc>
            </a:pP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 cumple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el umbral de fundición y moldeado de EUA: Techo combinado de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lvl="1" algn="just">
              <a:lnSpc>
                <a:spcPct val="100000"/>
              </a:lnSpc>
            </a:pP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Cumple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el umbral de fundición y moldeado de EUA: Techo combinado de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 los artículos listados fuera de los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capítulos 72, 73, 74 y 76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el arancel solo aplica si el peso del metal es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mayor al 15%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si el producto contiene diversos metales, 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peso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es 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agregado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 ellos.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Cualquier artículo de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Rusia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, o donde cualquier cantidad del aluminio primario sea fundido o moldeado en Rusia, está sujeto a un arancel del </a:t>
            </a:r>
            <a:r>
              <a:rPr lang="es-MX" sz="1600" b="1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200% ad </a:t>
            </a:r>
            <a:r>
              <a:rPr lang="es-MX" sz="1600" b="1" dirty="0" err="1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valorem</a:t>
            </a:r>
            <a:r>
              <a:rPr lang="es-MX" sz="1600" dirty="0">
                <a:effectLst/>
                <a:latin typeface="Noto Sans" panose="020B0502040504020204" pitchFamily="34" charset="0"/>
                <a:ea typeface="Aptos" panose="020B0004020202020204" pitchFamily="34" charset="0"/>
              </a:rPr>
              <a:t>, anulando cualquier reducción o trato preferencial.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 productos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 gozan del esquema de tope o reducción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 provienen de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países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 los que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Estados Unidos no mantiene relaciones comerciales normales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debiendo pagar una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tasa ad </a:t>
            </a:r>
            <a:r>
              <a:rPr lang="es-MX" sz="16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valorem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25%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Este anexo se compone por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167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(antes 85) productos específicos (10 dígitos), respecto a la proclamación previa: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Sin cambio: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85</a:t>
            </a: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productos.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Añadidos: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Removidos: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  <a:p>
            <a:pPr lvl="1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Reubicados: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82</a:t>
            </a:r>
          </a:p>
          <a:p>
            <a:pPr lvl="2" algn="just">
              <a:lnSpc>
                <a:spcPct val="100000"/>
              </a:lnSpc>
            </a:pPr>
            <a:r>
              <a:rPr lang="es-MX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Desde Anexo I-B: </a:t>
            </a:r>
            <a:r>
              <a:rPr lang="es-MX" sz="1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82</a:t>
            </a:r>
            <a:endParaRPr lang="es-MX" sz="1600" kern="100" dirty="0"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764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1344</Words>
  <Application>Microsoft Office PowerPoint</Application>
  <PresentationFormat>Panorámica</PresentationFormat>
  <Paragraphs>70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Noto Sans</vt:lpstr>
      <vt:lpstr>Tema de Office</vt:lpstr>
      <vt:lpstr>Marco Arancelario Sección 232 (Aluminio, Acero y Cobre) Proclamación 01 junio 2026</vt:lpstr>
      <vt:lpstr>Introducción</vt:lpstr>
      <vt:lpstr>Anexo I-A (Materias Primas y Productos Metalúrgicos Básicos)</vt:lpstr>
      <vt:lpstr>Anexo I-B (Bienes Intermedios, Componentes Industriales y Manufacturas Diversas)</vt:lpstr>
      <vt:lpstr>Anexo I-C (Maquinaria Pesada y Equipo Industrial Móvil)</vt:lpstr>
      <vt:lpstr>Anexo II (Bienes Exentos y Exclusiones Específicas)</vt:lpstr>
      <vt:lpstr>Anexo III (Equipo Agrícola, Sistemas HVAC y Maquinaria Industrial Fija)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Aleksander Dobrusin Larios</dc:creator>
  <cp:lastModifiedBy>Edward Aleksander Dobrusin Larios</cp:lastModifiedBy>
  <cp:revision>2</cp:revision>
  <dcterms:created xsi:type="dcterms:W3CDTF">2026-06-03T23:57:49Z</dcterms:created>
  <dcterms:modified xsi:type="dcterms:W3CDTF">2026-06-05T19:07:19Z</dcterms:modified>
</cp:coreProperties>
</file>